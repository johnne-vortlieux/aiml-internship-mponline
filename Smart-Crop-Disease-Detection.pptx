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ist Bold"/>
      <p:regular r:id="rId201314"/>
    </p:embeddedFont>
    <p:embeddedFont>
      <p:font typeface="Geist Black"/>
      <p:regular r:id="rId201315"/>
    </p:embeddedFont>
    <p:embeddedFont>
      <p:font typeface="Geist"/>
      <p:regular r:id="rId201316"/>
    </p:embeddedFont>
    <p:embeddedFont>
      <p:font typeface="Noto Serif Black"/>
      <p:regular r:id="rId201317"/>
    </p:embeddedFont>
    <p:embeddedFont>
      <p:font typeface="Noto Serif"/>
      <p:regular r:id="rId201318"/>
    </p:embeddedFont>
    <p:embeddedFont>
      <p:font typeface="Noto Serif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8412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Smart Crop Disease Detection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67519" y="231063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Deep Learning Model for Crop Leaf Disease Identification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732336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4B4A4A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946276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Manu John V S</a:t>
            </a:r>
            <a:endParaRPr lang="en-US" sz="11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Registration Number: 23BAI10838  |  Application Number: IN26014237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0960"/>
            <a:ext cx="797644" cy="208583"/>
          </a:xfrm>
          <a:prstGeom prst="roundRect">
            <a:avLst>
              <a:gd name="adj" fmla="val 47407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462111"/>
            <a:ext cx="1090092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82749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97222" y="1311399"/>
            <a:ext cx="4106168" cy="3411141"/>
          </a:xfrm>
          <a:prstGeom prst="roundRect">
            <a:avLst>
              <a:gd name="adj" fmla="val 5798"/>
            </a:avLst>
          </a:prstGeom>
          <a:solidFill>
            <a:srgbClr val="00674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4516" y="1444377"/>
            <a:ext cx="383158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Core Issue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4516" y="1791891"/>
            <a:ext cx="3831580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Farmers lack timely, accurate methods to identify crop diseases — manual diagnosis is slow, inconsistent, and demands expert knowledge.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4269" y="1461046"/>
            <a:ext cx="3908375" cy="8765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76813" y="1617390"/>
            <a:ext cx="351948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Delayed Diagnosis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976813" y="1964903"/>
            <a:ext cx="35194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Rapid disease spread before intervention is possible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4269" y="2470547"/>
            <a:ext cx="3908375" cy="8765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76813" y="2626891"/>
            <a:ext cx="351948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Crop Loss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76813" y="2974404"/>
            <a:ext cx="35194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Significant yield reduction impacts farmer income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4269" y="3480048"/>
            <a:ext cx="3908375" cy="109284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76813" y="3636392"/>
            <a:ext cx="351948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Food Security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976813" y="3983906"/>
            <a:ext cx="351948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Reduced agricultural output at scale threatens supply chains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06029"/>
            <a:ext cx="536451" cy="215354"/>
          </a:xfrm>
          <a:prstGeom prst="roundRect">
            <a:avLst>
              <a:gd name="adj" fmla="val 47398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248519"/>
            <a:ext cx="82354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7808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Objective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33674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7658" y="2133674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Automated Detection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27658" y="2440186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Deep learning model for disease identification from leaf images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133674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92092" y="2133674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High Accuracy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192092" y="2440186"/>
            <a:ext cx="34557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Multi-class classification across multiple crop types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77332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7658" y="3177332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Treatment Advice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27658" y="3483843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Actionable recommendations based on predicted disease class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177332"/>
            <a:ext cx="354360" cy="35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92092" y="3177332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Deployable Tool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192092" y="3483843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Practical for resource-constrained agricultural settings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8368"/>
            <a:ext cx="438969" cy="215354"/>
          </a:xfrm>
          <a:prstGeom prst="roundRect">
            <a:avLst>
              <a:gd name="adj" fmla="val 47398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60859"/>
            <a:ext cx="72605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9042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Dataset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27858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PlantVillage Dataset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91073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Publicly available, large-scale leaf image collection stratified by crop type and disease class for balanced training.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988" y="1605483"/>
            <a:ext cx="5177582" cy="18742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55094" y="3022242"/>
            <a:ext cx="1297016" cy="162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Preprocess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55094" y="2457319"/>
            <a:ext cx="1297016" cy="162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Organize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55094" y="1886632"/>
            <a:ext cx="1297016" cy="162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Source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96119" y="3798689"/>
            <a:ext cx="4004965" cy="826368"/>
          </a:xfrm>
          <a:prstGeom prst="roundRect">
            <a:avLst>
              <a:gd name="adj" fmla="val 15440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40" y="394521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Crop Types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40" y="4251722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Tomato · Potato · Corn · Apple · others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42842" y="3798689"/>
            <a:ext cx="4005039" cy="826368"/>
          </a:xfrm>
          <a:prstGeom prst="roundRect">
            <a:avLst>
              <a:gd name="adj" fmla="val 15440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89363" y="3945210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Classes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789363" y="4251722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Healthy and diseased leaf categories per crop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86879" cy="107603"/>
          </a:xfrm>
          <a:prstGeom prst="roundRect">
            <a:avLst>
              <a:gd name="adj" fmla="val 47430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759098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APPROACH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Methodology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56073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Transfer Learning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96119" y="2706886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Leverages feature representations learned from ImageNet — reducing training time and data requirements significantly.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496119" y="2823790"/>
            <a:ext cx="3989412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Base Model: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MobileNetV2 pretrained on ImageNet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 Head: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Task-specific dense layers replacing final classification layer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Strategy: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Two-phase training for optimal convergence</a:t>
            </a:r>
            <a:endParaRPr lang="en-US" sz="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825996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4813"/>
            <a:ext cx="917004" cy="198462"/>
          </a:xfrm>
          <a:prstGeom prst="roundRect">
            <a:avLst>
              <a:gd name="adj" fmla="val 47414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574477" y="443954"/>
            <a:ext cx="1217488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51421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Model Architecture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240482"/>
            <a:ext cx="7890644" cy="296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02209" y="3367990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Softmax Output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02299" y="3482623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Dropout 0.5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10540" y="336799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Dense Layers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18781" y="336799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GlobalAvgPool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4415" y="336799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MobileNetV2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4336926"/>
            <a:ext cx="8151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MobileNetV2 backbone extracts rich visual features; the custom head maps these to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6747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 disease classes + healthy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across crop types via softmax probability distribution.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55117"/>
            <a:ext cx="678284" cy="215354"/>
          </a:xfrm>
          <a:prstGeom prst="roundRect">
            <a:avLst>
              <a:gd name="adj" fmla="val 47398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097607"/>
            <a:ext cx="96537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2717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Training Process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982763"/>
            <a:ext cx="8151763" cy="1379116"/>
          </a:xfrm>
          <a:prstGeom prst="roundRect">
            <a:avLst>
              <a:gd name="adj" fmla="val 9252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0881" y="1987525"/>
            <a:ext cx="4071119" cy="1369591"/>
          </a:xfrm>
          <a:custGeom>
            <a:avLst/>
            <a:gdLst/>
            <a:ahLst/>
            <a:cxnLst/>
            <a:rect l="l" t="t" r="r" b="b"/>
            <a:pathLst>
              <a:path w="4071119" h="1369591">
                <a:moveTo>
                  <a:pt x="106326" y="0"/>
                </a:moveTo>
                <a:lnTo>
                  <a:pt x="4071119" y="0"/>
                </a:lnTo>
                <a:lnTo>
                  <a:pt x="4071119" y="1369591"/>
                </a:lnTo>
                <a:lnTo>
                  <a:pt x="106326" y="1369591"/>
                </a:lnTo>
                <a:arcTo hR="106326" wR="106326" stAng="5400000" swAng="5400000"/>
                <a:lnTo>
                  <a:pt x="0" y="106326"/>
                </a:lnTo>
                <a:arcTo hR="106326" wR="106326" stAng="10800000" swAng="5400000"/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7" name="Text 5"/>
          <p:cNvSpPr/>
          <p:nvPr/>
        </p:nvSpPr>
        <p:spPr>
          <a:xfrm>
            <a:off x="642640" y="2129284"/>
            <a:ext cx="37876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Phase 1 — Classifier Head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2640" y="2435796"/>
            <a:ext cx="3787601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Freeze MobileNetV2 base weights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 custom dense layers only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Duration: 10–15 epochs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987525"/>
            <a:ext cx="4071119" cy="1369591"/>
          </a:xfrm>
          <a:custGeom>
            <a:avLst/>
            <a:gdLst/>
            <a:ahLst/>
            <a:cxnLst/>
            <a:rect l="l" t="t" r="r" b="b"/>
            <a:pathLst>
              <a:path w="4071119" h="1369591">
                <a:moveTo>
                  <a:pt x="0" y="0"/>
                </a:moveTo>
                <a:lnTo>
                  <a:pt x="3964793" y="0"/>
                </a:lnTo>
                <a:arcTo hR="106326" wR="106326" stAng="16200000" swAng="5400000"/>
                <a:lnTo>
                  <a:pt x="4071119" y="1263265"/>
                </a:lnTo>
                <a:arcTo hR="106326" wR="106326" stAng="0" swAng="5400000"/>
                <a:lnTo>
                  <a:pt x="0" y="1369591"/>
                </a:lnTo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87525"/>
            <a:ext cx="19050" cy="1369591"/>
          </a:xfrm>
          <a:prstGeom prst="roundRect">
            <a:avLst>
              <a:gd name="adj" fmla="val 50000"/>
            </a:avLst>
          </a:prstGeom>
          <a:solidFill>
            <a:srgbClr val="B7D5CA"/>
          </a:solidFill>
          <a:ln/>
        </p:spPr>
      </p:sp>
      <p:sp>
        <p:nvSpPr>
          <p:cNvPr id="11" name="Text 9"/>
          <p:cNvSpPr/>
          <p:nvPr/>
        </p:nvSpPr>
        <p:spPr>
          <a:xfrm>
            <a:off x="4713759" y="2129284"/>
            <a:ext cx="37876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Phase 2 — Fine-Tuning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13759" y="2435796"/>
            <a:ext cx="3787601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Unfreeze top base model layers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Low learning rate: 1e-5 to 1e-4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Duration: 10–20 epochs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521348"/>
            <a:ext cx="8151763" cy="566961"/>
          </a:xfrm>
          <a:prstGeom prst="roundRect">
            <a:avLst>
              <a:gd name="adj" fmla="val 22504"/>
            </a:avLst>
          </a:prstGeom>
          <a:solidFill>
            <a:srgbClr val="CCFFE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722117"/>
            <a:ext cx="177180" cy="1417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56816" y="3698528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Optimization: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Adam optimizer with categorical cross-entropy loss function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39763"/>
            <a:ext cx="786408" cy="215354"/>
          </a:xfrm>
          <a:prstGeom prst="roundRect">
            <a:avLst>
              <a:gd name="adj" fmla="val 47398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82253"/>
            <a:ext cx="107349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INFERENCE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118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Prediction &amp; Treatment Recommendation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76740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989311"/>
            <a:ext cx="2622724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098253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Input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404765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uploads leaf image via application interface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60601" y="176740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1989311"/>
            <a:ext cx="2622724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1" name="Text 9"/>
          <p:cNvSpPr/>
          <p:nvPr/>
        </p:nvSpPr>
        <p:spPr>
          <a:xfrm>
            <a:off x="3260601" y="2098253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Preprocess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60601" y="2404765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Image resized and normalized to model input specifications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25083" y="176740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083" y="1989311"/>
            <a:ext cx="2622724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5" name="Text 13"/>
          <p:cNvSpPr/>
          <p:nvPr/>
        </p:nvSpPr>
        <p:spPr>
          <a:xfrm>
            <a:off x="6025083" y="2098253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Inference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25083" y="2404765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 outputs probability distribution across disease classes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310641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119" y="3328318"/>
            <a:ext cx="4004965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9" name="Text 17"/>
          <p:cNvSpPr/>
          <p:nvPr/>
        </p:nvSpPr>
        <p:spPr>
          <a:xfrm>
            <a:off x="496119" y="3437260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Predict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6119" y="3743771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Highest probability class selected as predicted disease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42842" y="310641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42842" y="3328318"/>
            <a:ext cx="4004965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3" name="Text 21"/>
          <p:cNvSpPr/>
          <p:nvPr/>
        </p:nvSpPr>
        <p:spPr>
          <a:xfrm>
            <a:off x="4642842" y="3437260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Recommend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42842" y="3743771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Disease name, confidence score, and treatment steps returned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73596"/>
            <a:ext cx="645691" cy="215354"/>
          </a:xfrm>
          <a:prstGeom prst="roundRect">
            <a:avLst>
              <a:gd name="adj" fmla="val 47398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16087"/>
            <a:ext cx="93278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456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Results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74300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Metrics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6119" y="2123926"/>
            <a:ext cx="1880592" cy="1133103"/>
          </a:xfrm>
          <a:prstGeom prst="roundRect">
            <a:avLst>
              <a:gd name="adj" fmla="val 11260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927" y="2284735"/>
            <a:ext cx="15589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Training Accuracy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927" y="2869406"/>
            <a:ext cx="1558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[Insert %]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8470" y="2123926"/>
            <a:ext cx="1880592" cy="1133103"/>
          </a:xfrm>
          <a:prstGeom prst="roundRect">
            <a:avLst>
              <a:gd name="adj" fmla="val 11260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278" y="2284735"/>
            <a:ext cx="15589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Validation Accuracy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79278" y="2869406"/>
            <a:ext cx="1558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[Insert %]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398788"/>
            <a:ext cx="3902943" cy="911647"/>
          </a:xfrm>
          <a:prstGeom prst="roundRect">
            <a:avLst>
              <a:gd name="adj" fmla="val 13996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927" y="3559597"/>
            <a:ext cx="35813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Convergence Epoch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6927" y="3922812"/>
            <a:ext cx="35813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[Insert number]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49701" y="174300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Evaluation Breakdown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49701" y="2106216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Training Metrics: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Accuracy and loss curves across epochs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Validation Metrics: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Generalization performance over held-out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Per-Class Performance: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Precision, recall, and F1-score per disease class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Confusion Matrix: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Misclassification analysis — model strengths and weaknesses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8253"/>
            <a:ext cx="662136" cy="195114"/>
          </a:xfrm>
          <a:prstGeom prst="roundRect">
            <a:avLst>
              <a:gd name="adj" fmla="val 47410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573137" y="466725"/>
            <a:ext cx="965299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69875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Conclusion &amp; Future Scope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03622" y="1245915"/>
            <a:ext cx="4104159" cy="3469332"/>
          </a:xfrm>
          <a:prstGeom prst="roundRect">
            <a:avLst>
              <a:gd name="adj" fmla="val 5333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2061" y="1362298"/>
            <a:ext cx="384728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Achievements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2061" y="1679377"/>
            <a:ext cx="3847281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Transfer learning model for automated crop disease detection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 accuracy multi-class classification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Practical tool for rapid field diagnosis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33479" y="1362298"/>
            <a:ext cx="391916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Future Improvements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624" y="1700361"/>
            <a:ext cx="192658" cy="1926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50941" y="1693962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Expand dataset with field-collected images for robustness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1624" y="2324993"/>
            <a:ext cx="192658" cy="1926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50941" y="2318593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Deploy as mobile application for offline field use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1624" y="2949625"/>
            <a:ext cx="192658" cy="1926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50941" y="2943225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Integrate real-time camera feed for continuous monitoring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1624" y="3574256"/>
            <a:ext cx="192658" cy="19265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50941" y="3567857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Extend to additional crop types and disease classes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81624" y="4198888"/>
            <a:ext cx="192658" cy="19265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50941" y="4192488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Ensemble methods for increased prediction confidence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2026-08-05T15:44:49Z</dcterms:created>
  <dcterms:modified xsi:type="dcterms:W3CDTF">2026-08-05T15:44:49Z</dcterms:modified>
</cp:coreProperties>
</file>